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Kanit" panose="020B0502040204020203" charset="-34"/>
      <p:regular r:id="rId22"/>
      <p:bold r:id="rId23"/>
      <p:italic r:id="rId24"/>
      <p:boldItalic r:id="rId25"/>
    </p:embeddedFont>
    <p:embeddedFont>
      <p:font typeface="Montserrat" panose="02000505000000020004" pitchFamily="2" charset="0"/>
      <p:regular r:id="rId26"/>
    </p:embeddedFont>
    <p:embeddedFont>
      <p:font typeface="Prompt" panose="020B0502040204020203" charset="-34"/>
      <p:regular r:id="rId27"/>
      <p:bold r:id="rId28"/>
      <p:italic r:id="rId29"/>
      <p:boldItalic r:id="rId30"/>
    </p:embeddedFont>
    <p:embeddedFont>
      <p:font typeface="Arial Black" panose="020B0A04020102020204" pitchFamily="34" charset="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4CB2F8-4815-4C28-AC04-978E1422C938}">
  <a:tblStyle styleId="{174CB2F8-4815-4C28-AC04-978E1422C9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42791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cb77cd182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cb77cd182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889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81a6ecdb5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81a6ecdb5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3939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81a6ecdb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81a6ecdb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2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c7ea9c3420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c7ea9c3420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712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c7ea9c3420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c7ea9c3420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322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c7ea9c3420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c7ea9c3420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110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cb77cd182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cb77cd182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739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cb77cd182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cb77cd182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125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2a0626d4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b2a0626d4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410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2a0626d4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b2a0626d4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8417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b2a0626d4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b2a0626d4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6851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2a0626d4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b2a0626d4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019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cb77cd182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cb77cd182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498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cb77cd182d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cb77cd182d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5897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c0a3ba87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2c0a3ba87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5825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cb77cd182d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cb77cd182d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1697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c7ea9c342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c7ea9c342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1725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b2a0626d44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b2a0626d44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131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b2a0626d44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b2a0626d44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777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448825"/>
            <a:ext cx="8520600" cy="142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b="1">
                <a:solidFill>
                  <a:schemeClr val="lt1"/>
                </a:solidFill>
              </a:rPr>
              <a:t>COMPETENCY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latin typeface="Kanit"/>
                <a:ea typeface="Kanit"/>
                <a:cs typeface="Kanit"/>
                <a:sym typeface="Kanit"/>
              </a:rPr>
              <a:t>การประเมินประจำปี 2567</a:t>
            </a: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284799" y="1467510"/>
            <a:ext cx="8520600" cy="142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b="1">
                <a:solidFill>
                  <a:srgbClr val="008000"/>
                </a:solidFill>
              </a:rPr>
              <a:t>COMPETENCY</a:t>
            </a:r>
            <a:endParaRPr b="1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7370375" y="1123300"/>
            <a:ext cx="1643100" cy="3872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142275" y="1245300"/>
            <a:ext cx="3628800" cy="1712700"/>
          </a:xfrm>
          <a:prstGeom prst="rect">
            <a:avLst/>
          </a:prstGeom>
          <a:noFill/>
          <a:ln w="19050" cap="flat" cmpd="sng">
            <a:solidFill>
              <a:srgbClr val="008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-1300" y="1542875"/>
            <a:ext cx="38973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สิ่งที่คาดหวังจากตัวพนักงานแต่ละบุคคล ที่สามารถวัดและสังเกตเห็นได้หรือสะท้อนให้เห็นจากพฤติกรรมการทำงาน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54550" y="1271750"/>
            <a:ext cx="323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7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สมรรถนะ  ขีดความสามารถ</a:t>
            </a:r>
            <a:endParaRPr sz="500"/>
          </a:p>
        </p:txBody>
      </p:sp>
      <p:sp>
        <p:nvSpPr>
          <p:cNvPr id="65" name="Google Shape;65;p14"/>
          <p:cNvSpPr/>
          <p:nvPr/>
        </p:nvSpPr>
        <p:spPr>
          <a:xfrm>
            <a:off x="3869094" y="1652675"/>
            <a:ext cx="1643100" cy="514500"/>
          </a:xfrm>
          <a:prstGeom prst="flowChartAlternateProcess">
            <a:avLst/>
          </a:prstGeom>
          <a:solidFill>
            <a:srgbClr val="CFE2F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91425" rIns="18000" bIns="91425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CORE</a:t>
            </a:r>
            <a:r>
              <a:rPr lang="th" sz="12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 COMPETENCY </a:t>
            </a:r>
            <a:endParaRPr sz="1200" b="1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2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สมรรถนะหลัก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571290" y="1657098"/>
            <a:ext cx="1643100" cy="514500"/>
          </a:xfrm>
          <a:prstGeom prst="flowChartAlternateProcess">
            <a:avLst/>
          </a:prstGeom>
          <a:solidFill>
            <a:srgbClr val="CFE2F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JOB</a:t>
            </a:r>
            <a:r>
              <a:rPr lang="th" sz="12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 COMPETENCY </a:t>
            </a:r>
            <a:endParaRPr sz="1200" b="1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2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สมรรถนะในงาน </a:t>
            </a:r>
            <a:endParaRPr sz="9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494875" y="3218175"/>
            <a:ext cx="17844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1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Competency</a:t>
            </a:r>
            <a:endParaRPr sz="2100" b="1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1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R.X.  </a:t>
            </a:r>
            <a:endParaRPr sz="4200" b="1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854850" y="3928663"/>
            <a:ext cx="897553" cy="50675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00FF"/>
                </a:solidFill>
                <a:latin typeface="Kanit"/>
              </a:rPr>
              <a:t>42</a:t>
            </a:r>
          </a:p>
        </p:txBody>
      </p:sp>
      <p:sp>
        <p:nvSpPr>
          <p:cNvPr id="69" name="Google Shape;69;p14"/>
          <p:cNvSpPr txBox="1"/>
          <p:nvPr/>
        </p:nvSpPr>
        <p:spPr>
          <a:xfrm>
            <a:off x="6063295" y="4425850"/>
            <a:ext cx="65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20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ข้อ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3869100" y="1162875"/>
            <a:ext cx="33456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1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แบ่งออก 2 ประเภท</a:t>
            </a:r>
            <a:r>
              <a:rPr lang="th" sz="23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440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5571214" y="2898770"/>
            <a:ext cx="1643031" cy="294735"/>
            <a:chOff x="3846723" y="2932983"/>
            <a:chExt cx="2418000" cy="1399500"/>
          </a:xfrm>
        </p:grpSpPr>
        <p:sp>
          <p:nvSpPr>
            <p:cNvPr id="72" name="Google Shape;72;p14"/>
            <p:cNvSpPr/>
            <p:nvPr/>
          </p:nvSpPr>
          <p:spPr>
            <a:xfrm>
              <a:off x="3846723" y="2932983"/>
              <a:ext cx="2418000" cy="1399500"/>
            </a:xfrm>
            <a:prstGeom prst="roundRect">
              <a:avLst>
                <a:gd name="adj" fmla="val 10000"/>
              </a:avLst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1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3887702" y="3039560"/>
              <a:ext cx="2336100" cy="12519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th" sz="1300" b="1">
                  <a:solidFill>
                    <a:srgbClr val="000000"/>
                  </a:solidFill>
                  <a:latin typeface="Kanit"/>
                  <a:ea typeface="Kanit"/>
                  <a:cs typeface="Kanit"/>
                  <a:sym typeface="Kanit"/>
                </a:rPr>
                <a:t>Skills</a:t>
              </a:r>
              <a:endParaRPr sz="1300" b="1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74" name="Google Shape;74;p14"/>
          <p:cNvSpPr txBox="1"/>
          <p:nvPr/>
        </p:nvSpPr>
        <p:spPr>
          <a:xfrm>
            <a:off x="3832149" y="2179075"/>
            <a:ext cx="164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000">
                <a:latin typeface="Kanit"/>
                <a:ea typeface="Kanit"/>
                <a:cs typeface="Kanit"/>
                <a:sym typeface="Kanit"/>
              </a:rPr>
              <a:t>คาดหวัง</a:t>
            </a:r>
            <a:r>
              <a:rPr lang="th" sz="1000" b="1" u="sng">
                <a:latin typeface="Kanit"/>
                <a:ea typeface="Kanit"/>
                <a:cs typeface="Kanit"/>
                <a:sym typeface="Kanit"/>
              </a:rPr>
              <a:t>จากพนักงานทุกคน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5427715" y="2179075"/>
            <a:ext cx="184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000">
                <a:latin typeface="Kanit"/>
                <a:ea typeface="Kanit"/>
                <a:cs typeface="Kanit"/>
                <a:sym typeface="Kanit"/>
              </a:rPr>
              <a:t>พึงมี</a:t>
            </a:r>
            <a:r>
              <a:rPr lang="th" sz="1000" b="1" u="sng">
                <a:latin typeface="Kanit"/>
                <a:ea typeface="Kanit"/>
                <a:cs typeface="Kanit"/>
                <a:sym typeface="Kanit"/>
              </a:rPr>
              <a:t>ตามหน้าที่ความรับผิดชอบ</a:t>
            </a:r>
            <a:endParaRPr/>
          </a:p>
        </p:txBody>
      </p:sp>
      <p:grpSp>
        <p:nvGrpSpPr>
          <p:cNvPr id="76" name="Google Shape;76;p14"/>
          <p:cNvGrpSpPr/>
          <p:nvPr/>
        </p:nvGrpSpPr>
        <p:grpSpPr>
          <a:xfrm>
            <a:off x="5571075" y="2539896"/>
            <a:ext cx="1643031" cy="294735"/>
            <a:chOff x="3846723" y="2932983"/>
            <a:chExt cx="2418000" cy="1399500"/>
          </a:xfrm>
        </p:grpSpPr>
        <p:sp>
          <p:nvSpPr>
            <p:cNvPr id="77" name="Google Shape;77;p14"/>
            <p:cNvSpPr/>
            <p:nvPr/>
          </p:nvSpPr>
          <p:spPr>
            <a:xfrm>
              <a:off x="3846723" y="2932983"/>
              <a:ext cx="2418000" cy="1399500"/>
            </a:xfrm>
            <a:prstGeom prst="roundRect">
              <a:avLst>
                <a:gd name="adj" fmla="val 10000"/>
              </a:avLst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1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3887702" y="3039560"/>
              <a:ext cx="2336100" cy="12519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th" sz="1300" b="1">
                  <a:latin typeface="Kanit"/>
                  <a:ea typeface="Kanit"/>
                  <a:cs typeface="Kanit"/>
                  <a:sym typeface="Kanit"/>
                </a:rPr>
                <a:t>Knowledge</a:t>
              </a:r>
              <a:endParaRPr sz="1300" b="1">
                <a:solidFill>
                  <a:srgbClr val="000000"/>
                </a:solidFill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3869071" y="2517657"/>
            <a:ext cx="1643031" cy="317966"/>
            <a:chOff x="3846723" y="2932983"/>
            <a:chExt cx="2418000" cy="1399500"/>
          </a:xfrm>
        </p:grpSpPr>
        <p:sp>
          <p:nvSpPr>
            <p:cNvPr id="80" name="Google Shape;80;p14"/>
            <p:cNvSpPr/>
            <p:nvPr/>
          </p:nvSpPr>
          <p:spPr>
            <a:xfrm>
              <a:off x="3846723" y="2932983"/>
              <a:ext cx="2418000" cy="1399500"/>
            </a:xfrm>
            <a:prstGeom prst="roundRect">
              <a:avLst>
                <a:gd name="adj" fmla="val 10000"/>
              </a:avLst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3887702" y="3039560"/>
              <a:ext cx="2336100" cy="12519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 b="1">
                  <a:latin typeface="Kanit"/>
                  <a:ea typeface="Kanit"/>
                  <a:cs typeface="Kanit"/>
                  <a:sym typeface="Kanit"/>
                </a:rPr>
                <a:t>Relationship Excellence</a:t>
              </a: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3868931" y="2870415"/>
            <a:ext cx="1643031" cy="317966"/>
            <a:chOff x="3846723" y="2932983"/>
            <a:chExt cx="2418000" cy="1399500"/>
          </a:xfrm>
        </p:grpSpPr>
        <p:sp>
          <p:nvSpPr>
            <p:cNvPr id="83" name="Google Shape;83;p14"/>
            <p:cNvSpPr/>
            <p:nvPr/>
          </p:nvSpPr>
          <p:spPr>
            <a:xfrm>
              <a:off x="3846723" y="2932983"/>
              <a:ext cx="2418000" cy="1399500"/>
            </a:xfrm>
            <a:prstGeom prst="roundRect">
              <a:avLst>
                <a:gd name="adj" fmla="val 10000"/>
              </a:avLst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0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3887702" y="3039560"/>
              <a:ext cx="2336100" cy="12519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121900" tIns="121900" rIns="121900" bIns="9000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 b="1">
                  <a:latin typeface="Kanit"/>
                  <a:ea typeface="Kanit"/>
                  <a:cs typeface="Kanit"/>
                  <a:sym typeface="Kanit"/>
                </a:rPr>
                <a:t>Learning</a:t>
              </a: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85" name="Google Shape;85;p14"/>
          <p:cNvGrpSpPr/>
          <p:nvPr/>
        </p:nvGrpSpPr>
        <p:grpSpPr>
          <a:xfrm>
            <a:off x="3869000" y="3223170"/>
            <a:ext cx="1643031" cy="317966"/>
            <a:chOff x="3846723" y="2932983"/>
            <a:chExt cx="2418000" cy="1399500"/>
          </a:xfrm>
        </p:grpSpPr>
        <p:sp>
          <p:nvSpPr>
            <p:cNvPr id="86" name="Google Shape;86;p14"/>
            <p:cNvSpPr/>
            <p:nvPr/>
          </p:nvSpPr>
          <p:spPr>
            <a:xfrm>
              <a:off x="3846723" y="2932983"/>
              <a:ext cx="2418000" cy="1399500"/>
            </a:xfrm>
            <a:prstGeom prst="roundRect">
              <a:avLst>
                <a:gd name="adj" fmla="val 10000"/>
              </a:avLst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0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3887702" y="3039560"/>
              <a:ext cx="2336100" cy="12519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121900" tIns="121900" rIns="121900" bIns="9000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 b="1">
                  <a:latin typeface="Kanit"/>
                  <a:ea typeface="Kanit"/>
                  <a:cs typeface="Kanit"/>
                  <a:sym typeface="Kanit"/>
                </a:rPr>
                <a:t>Innovative Thinking</a:t>
              </a: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3868861" y="3575928"/>
            <a:ext cx="1643031" cy="317966"/>
            <a:chOff x="3846723" y="2932983"/>
            <a:chExt cx="2418000" cy="1399500"/>
          </a:xfrm>
        </p:grpSpPr>
        <p:sp>
          <p:nvSpPr>
            <p:cNvPr id="89" name="Google Shape;89;p14"/>
            <p:cNvSpPr/>
            <p:nvPr/>
          </p:nvSpPr>
          <p:spPr>
            <a:xfrm>
              <a:off x="3846723" y="2932983"/>
              <a:ext cx="2418000" cy="1399500"/>
            </a:xfrm>
            <a:prstGeom prst="roundRect">
              <a:avLst>
                <a:gd name="adj" fmla="val 10000"/>
              </a:avLst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3887702" y="3039560"/>
              <a:ext cx="2336100" cy="12519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121900" tIns="121900" rIns="121900" bIns="5040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 b="1">
                  <a:latin typeface="Kanit"/>
                  <a:ea typeface="Kanit"/>
                  <a:cs typeface="Kanit"/>
                  <a:sym typeface="Kanit"/>
                </a:rPr>
                <a:t>Fact</a:t>
              </a: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3868861" y="3928685"/>
            <a:ext cx="1643031" cy="317966"/>
            <a:chOff x="3846723" y="2932983"/>
            <a:chExt cx="2418000" cy="1399500"/>
          </a:xfrm>
        </p:grpSpPr>
        <p:sp>
          <p:nvSpPr>
            <p:cNvPr id="92" name="Google Shape;92;p14"/>
            <p:cNvSpPr/>
            <p:nvPr/>
          </p:nvSpPr>
          <p:spPr>
            <a:xfrm>
              <a:off x="3846723" y="2932983"/>
              <a:ext cx="2418000" cy="1399500"/>
            </a:xfrm>
            <a:prstGeom prst="roundRect">
              <a:avLst>
                <a:gd name="adj" fmla="val 10000"/>
              </a:avLst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3887702" y="3039560"/>
              <a:ext cx="2336100" cy="12519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spcFirstLastPara="1" wrap="square" lIns="121900" tIns="90000" rIns="121900" bIns="50400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 b="1">
                  <a:latin typeface="Kanit"/>
                  <a:ea typeface="Kanit"/>
                  <a:cs typeface="Kanit"/>
                  <a:sym typeface="Kanit"/>
                </a:rPr>
                <a:t>Entrepreneurship</a:t>
              </a:r>
              <a:endParaRPr sz="1100" b="1"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94" name="Google Shape;94;p14"/>
          <p:cNvSpPr txBox="1"/>
          <p:nvPr/>
        </p:nvSpPr>
        <p:spPr>
          <a:xfrm>
            <a:off x="7156550" y="1191938"/>
            <a:ext cx="21300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12725" y="1455588"/>
            <a:ext cx="1704600" cy="12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>
                <a:latin typeface="Kanit"/>
                <a:ea typeface="Kanit"/>
                <a:cs typeface="Kanit"/>
                <a:sym typeface="Kanit"/>
              </a:rPr>
              <a:t>ผลการประเมิน</a:t>
            </a:r>
            <a:endParaRPr sz="1600"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1600" b="1" u="sng">
                <a:solidFill>
                  <a:srgbClr val="FF0000"/>
                </a:solidFill>
                <a:latin typeface="Kanit"/>
                <a:ea typeface="Kanit"/>
                <a:cs typeface="Kanit"/>
                <a:sym typeface="Kanit"/>
              </a:rPr>
              <a:t>ต่ำกว่า</a:t>
            </a:r>
            <a:r>
              <a:rPr lang="th" sz="1600" b="1">
                <a:solidFill>
                  <a:srgbClr val="FF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1600" b="1">
              <a:solidFill>
                <a:srgbClr val="FF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>
                <a:latin typeface="Kanit"/>
                <a:ea typeface="Kanit"/>
                <a:cs typeface="Kanit"/>
                <a:sym typeface="Kanit"/>
              </a:rPr>
              <a:t>ระดับที่คาดหวัง</a:t>
            </a:r>
            <a:endParaRPr sz="1600"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>
                <a:latin typeface="Kanit"/>
                <a:ea typeface="Kanit"/>
                <a:cs typeface="Kanit"/>
                <a:sym typeface="Kanit"/>
              </a:rPr>
              <a:t>เท่ากับมี</a:t>
            </a:r>
            <a:endParaRPr sz="1600"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429550" y="3822588"/>
            <a:ext cx="1704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latin typeface="Kanit"/>
                <a:ea typeface="Kanit"/>
                <a:cs typeface="Kanit"/>
                <a:sym typeface="Kanit"/>
              </a:rPr>
              <a:t>ผู้บังคับบัญชา</a:t>
            </a:r>
            <a:endParaRPr sz="1500"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 u="sng">
                <a:solidFill>
                  <a:srgbClr val="FF00FF"/>
                </a:solidFill>
                <a:latin typeface="Kanit"/>
                <a:ea typeface="Kanit"/>
                <a:cs typeface="Kanit"/>
                <a:sym typeface="Kanit"/>
              </a:rPr>
              <a:t>จัดทำแผนพัฒนาพนักงาน</a:t>
            </a:r>
            <a:endParaRPr sz="1500" u="sng">
              <a:solidFill>
                <a:srgbClr val="FF00F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7546025" y="2957923"/>
            <a:ext cx="1351048" cy="4926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accent1"/>
                </a:solidFill>
                <a:latin typeface="Kanit"/>
              </a:rPr>
              <a:t>GAP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2433738" y="-119892"/>
            <a:ext cx="42765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700" b="1">
                <a:solidFill>
                  <a:srgbClr val="008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th" sz="29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COMPETENCY</a:t>
            </a:r>
            <a:endParaRPr sz="3700" b="1">
              <a:solidFill>
                <a:srgbClr val="008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7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สมรรถนะ  ขีดความสามารถ </a:t>
            </a:r>
            <a:endParaRPr sz="3700" b="1">
              <a:solidFill>
                <a:srgbClr val="008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294764" y="4425840"/>
            <a:ext cx="1613925" cy="319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0" name="Google Shape;100;p14"/>
          <p:cNvSpPr txBox="1"/>
          <p:nvPr/>
        </p:nvSpPr>
        <p:spPr>
          <a:xfrm>
            <a:off x="456675" y="1996800"/>
            <a:ext cx="30000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รอบการประเมิน</a:t>
            </a:r>
            <a:endParaRPr sz="1500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Kanit"/>
              <a:buAutoNum type="arabicPeriod"/>
            </a:pPr>
            <a:r>
              <a:rPr lang="th" sz="1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ผ่านทดลองงาน 119 วัน</a:t>
            </a:r>
            <a:endParaRPr sz="15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Kanit"/>
              <a:buAutoNum type="arabicPeriod"/>
            </a:pPr>
            <a:r>
              <a:rPr lang="th" sz="1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ประจำปี</a:t>
            </a:r>
            <a:r>
              <a:rPr lang="th" sz="12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 เดือนพฤศจิกายน</a:t>
            </a:r>
            <a:endParaRPr sz="12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890" y="3221948"/>
            <a:ext cx="3688723" cy="12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443100" y="1335825"/>
            <a:ext cx="2174400" cy="1007400"/>
          </a:xfrm>
          <a:prstGeom prst="rect">
            <a:avLst/>
          </a:prstGeom>
          <a:noFill/>
          <a:ln w="9525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2921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Prompt"/>
              <a:buAutoNum type="arabicPeriod"/>
            </a:pPr>
            <a:r>
              <a:rPr lang="th" sz="1000">
                <a:latin typeface="Prompt"/>
                <a:ea typeface="Prompt"/>
                <a:cs typeface="Prompt"/>
                <a:sym typeface="Prompt"/>
              </a:rPr>
              <a:t>Relationship Excellence</a:t>
            </a:r>
            <a:endParaRPr sz="10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rompt"/>
              <a:buAutoNum type="arabicPeriod"/>
            </a:pPr>
            <a:r>
              <a:rPr lang="th" sz="1000">
                <a:latin typeface="Prompt"/>
                <a:ea typeface="Prompt"/>
                <a:cs typeface="Prompt"/>
                <a:sym typeface="Prompt"/>
              </a:rPr>
              <a:t>Fact</a:t>
            </a:r>
            <a:endParaRPr sz="10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rompt"/>
              <a:buAutoNum type="arabicPeriod"/>
            </a:pPr>
            <a:r>
              <a:rPr lang="th" sz="1000">
                <a:latin typeface="Prompt"/>
                <a:ea typeface="Prompt"/>
                <a:cs typeface="Prompt"/>
                <a:sym typeface="Prompt"/>
              </a:rPr>
              <a:t>Innovative Thinking</a:t>
            </a:r>
            <a:endParaRPr sz="10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rompt"/>
              <a:buAutoNum type="arabicPeriod"/>
            </a:pPr>
            <a:r>
              <a:rPr lang="th" sz="1000">
                <a:latin typeface="Prompt"/>
                <a:ea typeface="Prompt"/>
                <a:cs typeface="Prompt"/>
                <a:sym typeface="Prompt"/>
              </a:rPr>
              <a:t>Learning</a:t>
            </a:r>
            <a:endParaRPr sz="10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rompt"/>
              <a:buAutoNum type="arabicPeriod"/>
            </a:pPr>
            <a:r>
              <a:rPr lang="th" sz="1000">
                <a:latin typeface="Prompt"/>
                <a:ea typeface="Prompt"/>
                <a:cs typeface="Prompt"/>
                <a:sym typeface="Prompt"/>
              </a:rPr>
              <a:t>Entrepernuership</a:t>
            </a:r>
            <a:endParaRPr sz="1000"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43100" y="2466375"/>
            <a:ext cx="2174400" cy="2277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 b="1">
                <a:solidFill>
                  <a:schemeClr val="lt1"/>
                </a:solidFill>
                <a:latin typeface="Prompt"/>
                <a:ea typeface="Prompt"/>
                <a:cs typeface="Prompt"/>
                <a:sym typeface="Prompt"/>
              </a:rPr>
              <a:t>JOB (Knowledge)</a:t>
            </a:r>
            <a:endParaRPr sz="900" b="1">
              <a:solidFill>
                <a:schemeClr val="lt1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43100" y="2732381"/>
            <a:ext cx="2174400" cy="1053000"/>
          </a:xfrm>
          <a:prstGeom prst="rect">
            <a:avLst/>
          </a:prstGeom>
          <a:noFill/>
          <a:ln w="9525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Font typeface="Prompt"/>
              <a:buAutoNum type="arabicPeriod"/>
            </a:pPr>
            <a:r>
              <a:rPr lang="th" sz="800">
                <a:latin typeface="Prompt"/>
                <a:ea typeface="Prompt"/>
                <a:cs typeface="Prompt"/>
                <a:sym typeface="Prompt"/>
              </a:rPr>
              <a:t>ความรู้ในสินค้าและบริการ Pharma</a:t>
            </a:r>
            <a:endParaRPr sz="8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Prompt"/>
              <a:buAutoNum type="arabicPeriod"/>
            </a:pPr>
            <a:r>
              <a:rPr lang="th" sz="800">
                <a:latin typeface="Prompt"/>
                <a:ea typeface="Prompt"/>
                <a:cs typeface="Prompt"/>
                <a:sym typeface="Prompt"/>
              </a:rPr>
              <a:t>ความรู้ในสินค้าและบริการ Device</a:t>
            </a:r>
            <a:endParaRPr sz="8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Prompt"/>
              <a:buAutoNum type="arabicPeriod"/>
            </a:pPr>
            <a:r>
              <a:rPr lang="th" sz="800">
                <a:latin typeface="Prompt"/>
                <a:ea typeface="Prompt"/>
                <a:cs typeface="Prompt"/>
                <a:sym typeface="Prompt"/>
              </a:rPr>
              <a:t>ความรู้ทางกฎหมาย</a:t>
            </a:r>
            <a:endParaRPr sz="8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Prompt"/>
              <a:buAutoNum type="arabicPeriod"/>
            </a:pPr>
            <a:r>
              <a:rPr lang="th" sz="800">
                <a:latin typeface="Prompt"/>
                <a:ea typeface="Prompt"/>
                <a:cs typeface="Prompt"/>
                <a:sym typeface="Prompt"/>
              </a:rPr>
              <a:t>การขออนุญาตเกี่ยวกับผลิตภัณฑ์</a:t>
            </a:r>
            <a:endParaRPr sz="8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Prompt"/>
              <a:buAutoNum type="arabicPeriod"/>
            </a:pPr>
            <a:r>
              <a:rPr lang="th" sz="800">
                <a:latin typeface="Prompt"/>
                <a:ea typeface="Prompt"/>
                <a:cs typeface="Prompt"/>
                <a:sym typeface="Prompt"/>
              </a:rPr>
              <a:t>ความรู้ทางเลสิค</a:t>
            </a:r>
            <a:endParaRPr sz="800">
              <a:latin typeface="Prompt"/>
              <a:ea typeface="Prompt"/>
              <a:cs typeface="Prompt"/>
              <a:sym typeface="Promp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Prompt"/>
              <a:buAutoNum type="arabicPeriod"/>
            </a:pPr>
            <a:r>
              <a:rPr lang="th" sz="800">
                <a:latin typeface="Prompt"/>
                <a:ea typeface="Prompt"/>
                <a:cs typeface="Prompt"/>
                <a:sym typeface="Prompt"/>
              </a:rPr>
              <a:t>ความรู้ด้านระบบคุณภาพ</a:t>
            </a:r>
            <a:endParaRPr sz="800">
              <a:solidFill>
                <a:srgbClr val="7293C9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43100" y="1008693"/>
            <a:ext cx="2174400" cy="2889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000" b="1">
                <a:solidFill>
                  <a:schemeClr val="lt1"/>
                </a:solidFill>
                <a:latin typeface="Prompt"/>
                <a:ea typeface="Prompt"/>
                <a:cs typeface="Prompt"/>
                <a:sym typeface="Prompt"/>
              </a:rPr>
              <a:t>Core Competency</a:t>
            </a:r>
            <a:endParaRPr sz="1000" b="1">
              <a:solidFill>
                <a:schemeClr val="lt1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0" y="162125"/>
            <a:ext cx="9144000" cy="5388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ประเภทของ Competency</a:t>
            </a:r>
            <a:endParaRPr sz="2300" b="1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853975" y="1008738"/>
            <a:ext cx="5952600" cy="2889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000" b="1">
                <a:solidFill>
                  <a:schemeClr val="lt1"/>
                </a:solidFill>
                <a:latin typeface="Prompt"/>
                <a:ea typeface="Prompt"/>
                <a:cs typeface="Prompt"/>
                <a:sym typeface="Prompt"/>
              </a:rPr>
              <a:t>JOB (Skill) </a:t>
            </a:r>
            <a:r>
              <a:rPr lang="th" sz="1000">
                <a:solidFill>
                  <a:schemeClr val="lt1"/>
                </a:solidFill>
                <a:latin typeface="Prompt"/>
                <a:ea typeface="Prompt"/>
                <a:cs typeface="Prompt"/>
                <a:sym typeface="Prompt"/>
              </a:rPr>
              <a:t>31</a:t>
            </a:r>
            <a:endParaRPr sz="1000">
              <a:solidFill>
                <a:schemeClr val="lt1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853975" y="1381613"/>
            <a:ext cx="2945700" cy="3456900"/>
          </a:xfrm>
          <a:prstGeom prst="rect">
            <a:avLst/>
          </a:prstGeom>
          <a:noFill/>
          <a:ln w="9525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การปฏิบัติงานเชิงกลยุทธ์(Strategic Capability)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การบริหารบุคลากร(Managing people)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การบริหารจัดการ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การวิเคราะห์ข้อมูล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การสอนงานและพัฒนาพนักงาน(Coaching)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ภาวะผู้นำ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การแก้ไขปัญหาและการตัดสินใจ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การปฏิบัติงานตามขั้นตอนและการจัดการเอกสาร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การสื่อสาร (Communication)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การเจรจาต่อรอง (negotiation)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การบริหารงานขาย (Sales Management)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ทักษะการขาย (selling Skill)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การนำเสนอ (Presentation)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การบริหารการตลาด (marketing Management)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การจัดซื้อ(Purchasing)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Kanit"/>
              <a:buAutoNum type="arabicPeriod"/>
            </a:pPr>
            <a:r>
              <a:rPr lang="th" sz="9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นำเข้า-ส่งออก(Import - Export)</a:t>
            </a:r>
            <a:endParaRPr sz="900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902525" y="1381538"/>
            <a:ext cx="2904000" cy="3456900"/>
          </a:xfrm>
          <a:prstGeom prst="rect">
            <a:avLst/>
          </a:prstGeom>
          <a:noFill/>
          <a:ln w="9525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17.   การจัดทำบัญชี(Accounting)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18.   การทำธุรกรรมทางธนาคาร(Banking)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19.   การบริหารการเงิน(Finance management)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20.  การแนะนำการใช้งานและซ่อมเครื่องมือแพทย์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 21.   การสอบเทียบ(Calibration)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22.  การจัดการโลจิสติกส์และซัพพลายเชน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23.  งานคลังสินค้า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24.  งานจัดส่ง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25.  การออกแบบและการจัดทำสื่อ 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26.  การพยาบาลการสรรหาบุคลากร(Recruitment)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27.  การใช้โปรแกรมคอมพิวเตอร์ 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28.  ภาวะผู้นำ(Leadership)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29.  การบริการด้วยใจ(Service Mind)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30.  การประกอบรถพยาบาล 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900">
                <a:solidFill>
                  <a:schemeClr val="dk1"/>
                </a:solidFill>
                <a:highlight>
                  <a:srgbClr val="FFFFFF"/>
                </a:highlight>
                <a:latin typeface="Kanit"/>
                <a:ea typeface="Kanit"/>
                <a:cs typeface="Kanit"/>
                <a:sym typeface="Kanit"/>
              </a:rPr>
              <a:t>     31.   การ Service รถพยาบาล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3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h" sz="362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RX</a:t>
            </a:r>
            <a:r>
              <a:rPr lang="th" sz="3620" b="1">
                <a:solidFill>
                  <a:srgbClr val="666666"/>
                </a:solidFill>
                <a:latin typeface="Kanit"/>
                <a:ea typeface="Kanit"/>
                <a:cs typeface="Kanit"/>
                <a:sym typeface="Kanit"/>
              </a:rPr>
              <a:t> COMPETENCY</a:t>
            </a:r>
            <a:endParaRPr sz="3620" b="1">
              <a:solidFill>
                <a:srgbClr val="666666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119" name="Google Shape;119;p16"/>
          <p:cNvGraphicFramePr/>
          <p:nvPr/>
        </p:nvGraphicFramePr>
        <p:xfrm>
          <a:off x="705038" y="1295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3446375"/>
                <a:gridCol w="1697850"/>
              </a:tblGrid>
              <a:tr h="390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 b="1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COMPETENCY </a:t>
                      </a:r>
                      <a:endParaRPr sz="1300" b="1">
                        <a:solidFill>
                          <a:srgbClr val="FFFF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 b="1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    </a:t>
                      </a:r>
                      <a:r>
                        <a:rPr lang="th" sz="1600" b="1">
                          <a:solidFill>
                            <a:srgbClr val="FFFF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 จำนวน  40 ข้อ</a:t>
                      </a:r>
                      <a:endParaRPr sz="1600" b="1">
                        <a:solidFill>
                          <a:srgbClr val="FFFF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00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>
                          <a:latin typeface="Kanit"/>
                          <a:ea typeface="Kanit"/>
                          <a:cs typeface="Kanit"/>
                          <a:sym typeface="Kanit"/>
                        </a:rPr>
                        <a:t>CORE COMPETENCY</a:t>
                      </a:r>
                      <a:endParaRPr sz="13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>
                          <a:latin typeface="Kanit"/>
                          <a:ea typeface="Kanit"/>
                          <a:cs typeface="Kanit"/>
                          <a:sym typeface="Kanit"/>
                        </a:rPr>
                        <a:t> 5 ข้อ</a:t>
                      </a:r>
                      <a:endParaRPr sz="13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>
                          <a:latin typeface="Kanit"/>
                          <a:ea typeface="Kanit"/>
                          <a:cs typeface="Kanit"/>
                          <a:sym typeface="Kanit"/>
                        </a:rPr>
                        <a:t>JOB COMPETENCY  (Knowledge)</a:t>
                      </a:r>
                      <a:endParaRPr sz="13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>
                          <a:latin typeface="Kanit"/>
                          <a:ea typeface="Kanit"/>
                          <a:cs typeface="Kanit"/>
                          <a:sym typeface="Kanit"/>
                        </a:rPr>
                        <a:t>6 ข้อ</a:t>
                      </a:r>
                      <a:endParaRPr sz="13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>
                          <a:solidFill>
                            <a:schemeClr val="dk1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JOB COMPETENCY  (Skills)</a:t>
                      </a:r>
                      <a:endParaRPr sz="1300">
                        <a:solidFill>
                          <a:schemeClr val="dk1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>
                          <a:solidFill>
                            <a:schemeClr val="dk1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31 ข้อ</a:t>
                      </a:r>
                      <a:endParaRPr sz="1300">
                        <a:solidFill>
                          <a:schemeClr val="dk1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6"/>
          <p:cNvSpPr txBox="1">
            <a:spLocks noGrp="1"/>
          </p:cNvSpPr>
          <p:nvPr>
            <p:ph type="ctrTitle" idx="4294967295"/>
          </p:nvPr>
        </p:nvSpPr>
        <p:spPr>
          <a:xfrm>
            <a:off x="5933500" y="1699150"/>
            <a:ext cx="2581500" cy="1290000"/>
          </a:xfrm>
          <a:prstGeom prst="rect">
            <a:avLst/>
          </a:prstGeom>
          <a:solidFill>
            <a:srgbClr val="FEF8E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ระดับความคาดหวัง</a:t>
            </a:r>
            <a:endParaRPr sz="1600" b="1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4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พนักงาน			ระดับ 3</a:t>
            </a:r>
            <a:endParaRPr sz="1400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4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หัวหน้างาน			ระดับ 4</a:t>
            </a:r>
            <a:endParaRPr sz="1400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4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ผู้จัดการ			ระดับ 5</a:t>
            </a:r>
            <a:r>
              <a:rPr lang="th" sz="16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1600" b="1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05050" y="3214975"/>
            <a:ext cx="7282800" cy="800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9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Corporate Objectives</a:t>
            </a:r>
            <a:endParaRPr sz="19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75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% Competency Gap (Entrepreneurship) ของพนักงานทั้งหมด  </a:t>
            </a:r>
            <a:r>
              <a:rPr lang="th" sz="2100" b="1">
                <a:solidFill>
                  <a:schemeClr val="dk1"/>
                </a:solidFill>
                <a:highlight>
                  <a:srgbClr val="D9EAD3"/>
                </a:highlight>
                <a:latin typeface="Kanit"/>
                <a:ea typeface="Kanit"/>
                <a:cs typeface="Kanit"/>
                <a:sym typeface="Kanit"/>
              </a:rPr>
              <a:t>≤</a:t>
            </a:r>
            <a:r>
              <a:rPr lang="th" sz="1750">
                <a:solidFill>
                  <a:schemeClr val="dk1"/>
                </a:solidFill>
                <a:highlight>
                  <a:srgbClr val="D9EAD3"/>
                </a:highlight>
                <a:latin typeface="Kanit"/>
                <a:ea typeface="Kanit"/>
                <a:cs typeface="Kanit"/>
                <a:sym typeface="Kanit"/>
              </a:rPr>
              <a:t> 30%</a:t>
            </a:r>
            <a:endParaRPr sz="1750" b="1">
              <a:solidFill>
                <a:schemeClr val="dk1"/>
              </a:solidFill>
              <a:highlight>
                <a:srgbClr val="D9EAD3"/>
              </a:highlight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0"/>
            <a:ext cx="2999100" cy="106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4428425" y="392625"/>
            <a:ext cx="50025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h" sz="1740" b="1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พนักงานที่ได้รับการประเมินทั้งหมด </a:t>
            </a:r>
            <a:r>
              <a:rPr lang="th" sz="3090" b="1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3090" b="1">
              <a:solidFill>
                <a:schemeClr val="dk2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h" sz="399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281</a:t>
            </a:r>
            <a:r>
              <a:rPr lang="th" sz="2640" b="1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lang="th" sz="1740" b="1">
                <a:solidFill>
                  <a:schemeClr val="dk2"/>
                </a:solidFill>
                <a:latin typeface="Kanit"/>
                <a:ea typeface="Kanit"/>
                <a:cs typeface="Kanit"/>
                <a:sym typeface="Kanit"/>
              </a:rPr>
              <a:t>ท่าน</a:t>
            </a:r>
            <a:endParaRPr sz="1740" b="1">
              <a:solidFill>
                <a:schemeClr val="dk2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814655" y="3211125"/>
            <a:ext cx="31986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Kanit"/>
              <a:buChar char="●"/>
            </a:pPr>
            <a:r>
              <a:rPr lang="th" sz="1500">
                <a:solidFill>
                  <a:schemeClr val="accent2"/>
                </a:solidFill>
                <a:latin typeface="Kanit"/>
                <a:ea typeface="Kanit"/>
                <a:cs typeface="Kanit"/>
                <a:sym typeface="Kanit"/>
              </a:rPr>
              <a:t>กลุ่มงานสำนักงาน </a:t>
            </a:r>
            <a:r>
              <a:rPr lang="th" sz="15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(124 ท่าน)</a:t>
            </a:r>
            <a:endParaRPr sz="1500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814655" y="3598025"/>
            <a:ext cx="31986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Kanit"/>
              <a:buChar char="●"/>
            </a:pPr>
            <a:r>
              <a:rPr lang="th" sz="1500">
                <a:solidFill>
                  <a:schemeClr val="accent2"/>
                </a:solidFill>
                <a:latin typeface="Kanit"/>
                <a:ea typeface="Kanit"/>
                <a:cs typeface="Kanit"/>
                <a:sym typeface="Kanit"/>
              </a:rPr>
              <a:t>กลุ่มงานขาย</a:t>
            </a:r>
            <a:r>
              <a:rPr lang="th" sz="1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15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(102 ท่าน)</a:t>
            </a:r>
            <a:endParaRPr sz="1500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cxnSp>
        <p:nvCxnSpPr>
          <p:cNvPr id="130" name="Google Shape;130;p17"/>
          <p:cNvCxnSpPr>
            <a:stCxn id="127" idx="2"/>
            <a:endCxn id="127" idx="2"/>
          </p:cNvCxnSpPr>
          <p:nvPr/>
        </p:nvCxnSpPr>
        <p:spPr>
          <a:xfrm>
            <a:off x="6929675" y="849825"/>
            <a:ext cx="0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" name="Google Shape;131;p17"/>
          <p:cNvSpPr/>
          <p:nvPr/>
        </p:nvSpPr>
        <p:spPr>
          <a:xfrm>
            <a:off x="841586" y="1985350"/>
            <a:ext cx="31986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Kanit"/>
              <a:buChar char="●"/>
            </a:pPr>
            <a:r>
              <a:rPr lang="th" sz="1500">
                <a:latin typeface="Kanit"/>
                <a:ea typeface="Kanit"/>
                <a:cs typeface="Kanit"/>
                <a:sym typeface="Kanit"/>
              </a:rPr>
              <a:t>3,4,5  ผู้จัดการ  </a:t>
            </a:r>
            <a:r>
              <a:rPr lang="th" sz="15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 (13 ท่าน)</a:t>
            </a:r>
            <a:endParaRPr sz="1500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844208" y="1611525"/>
            <a:ext cx="31986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Kanit"/>
              <a:buChar char="●"/>
            </a:pPr>
            <a:r>
              <a:rPr lang="th" sz="1500">
                <a:latin typeface="Kanit"/>
                <a:ea typeface="Kanit"/>
                <a:cs typeface="Kanit"/>
                <a:sym typeface="Kanit"/>
              </a:rPr>
              <a:t>2 หัวหน้างาน</a:t>
            </a:r>
            <a:r>
              <a:rPr lang="th" sz="15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  (34 ท่าน)</a:t>
            </a:r>
            <a:endParaRPr sz="1500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817275" y="683382"/>
            <a:ext cx="3198600" cy="3999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800" b="1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rPr>
              <a:t>ระดับ</a:t>
            </a:r>
            <a:endParaRPr sz="1500" b="1">
              <a:solidFill>
                <a:schemeClr val="lt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787076" y="2719082"/>
            <a:ext cx="3198600" cy="3999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800" b="1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rPr>
              <a:t>กลุ่มงาน</a:t>
            </a:r>
            <a:endParaRPr sz="1500" b="1">
              <a:solidFill>
                <a:schemeClr val="lt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53410" y="1246022"/>
            <a:ext cx="31986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Kanit"/>
              <a:buChar char="●"/>
            </a:pPr>
            <a:r>
              <a:rPr lang="th" sz="1500">
                <a:latin typeface="Kanit"/>
                <a:ea typeface="Kanit"/>
                <a:cs typeface="Kanit"/>
                <a:sym typeface="Kanit"/>
              </a:rPr>
              <a:t>1 พนักงาน </a:t>
            </a:r>
            <a:r>
              <a:rPr lang="th" sz="1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15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(233 ท่าน)</a:t>
            </a:r>
            <a:endParaRPr sz="1500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4">
            <a:alphaModFix/>
          </a:blip>
          <a:srcRect b="28821"/>
          <a:stretch/>
        </p:blipFill>
        <p:spPr>
          <a:xfrm>
            <a:off x="4852350" y="1849346"/>
            <a:ext cx="4081974" cy="29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828755" y="3941650"/>
            <a:ext cx="31986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Kanit"/>
              <a:buChar char="●"/>
            </a:pPr>
            <a:r>
              <a:rPr lang="th" sz="1500">
                <a:solidFill>
                  <a:schemeClr val="accent2"/>
                </a:solidFill>
                <a:latin typeface="Kanit"/>
                <a:ea typeface="Kanit"/>
                <a:cs typeface="Kanit"/>
                <a:sym typeface="Kanit"/>
              </a:rPr>
              <a:t>กลุ่มเลสิก</a:t>
            </a:r>
            <a:r>
              <a:rPr lang="th" sz="1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1500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(56 ท่าน)</a:t>
            </a:r>
            <a:endParaRPr sz="1500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73975" y="1451734"/>
            <a:ext cx="3713700" cy="2801700"/>
          </a:xfrm>
          <a:prstGeom prst="roundRect">
            <a:avLst>
              <a:gd name="adj" fmla="val 9384"/>
            </a:avLst>
          </a:prstGeom>
          <a:solidFill>
            <a:srgbClr val="99ED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0" y="76200"/>
            <a:ext cx="9144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2700" b="1">
                <a:solidFill>
                  <a:srgbClr val="595959"/>
                </a:solidFill>
                <a:latin typeface="Kanit"/>
                <a:ea typeface="Kanit"/>
                <a:cs typeface="Kanit"/>
                <a:sym typeface="Kanit"/>
              </a:rPr>
              <a:t>Corporate Objectives</a:t>
            </a:r>
            <a:endParaRPr sz="2700" b="1">
              <a:solidFill>
                <a:srgbClr val="595959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47875" y="2894963"/>
            <a:ext cx="8646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จากผลการประเมิน Competency (Entrepreneurship) ปี 2567</a:t>
            </a:r>
            <a:endParaRPr sz="15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7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มีCompetency Gap คิดเป็น</a:t>
            </a:r>
            <a:r>
              <a:rPr lang="th" sz="17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1700" b="1">
                <a:solidFill>
                  <a:srgbClr val="008000"/>
                </a:solidFill>
                <a:highlight>
                  <a:srgbClr val="FFFF00"/>
                </a:highlight>
                <a:latin typeface="Kanit"/>
                <a:ea typeface="Kanit"/>
                <a:cs typeface="Kanit"/>
                <a:sym typeface="Kanit"/>
              </a:rPr>
              <a:t> 20.64 %  </a:t>
            </a:r>
            <a:r>
              <a:rPr lang="th" sz="2200" b="1">
                <a:solidFill>
                  <a:srgbClr val="008000"/>
                </a:solidFill>
                <a:highlight>
                  <a:srgbClr val="FFFF00"/>
                </a:highlight>
                <a:latin typeface="Kanit"/>
                <a:ea typeface="Kanit"/>
                <a:cs typeface="Kanit"/>
                <a:sym typeface="Kanit"/>
              </a:rPr>
              <a:t> </a:t>
            </a:r>
            <a:endParaRPr sz="1200" b="1">
              <a:solidFill>
                <a:srgbClr val="9900FF"/>
              </a:solidFill>
              <a:highlight>
                <a:schemeClr val="lt1"/>
              </a:highlight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1117100" y="744000"/>
            <a:ext cx="6638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650">
                <a:latin typeface="Kanit"/>
                <a:ea typeface="Kanit"/>
                <a:cs typeface="Kanit"/>
                <a:sym typeface="Kanit"/>
              </a:rPr>
              <a:t>% Competency Gap (Entrepreneurship) ของพนักงานทั้งหมด  </a:t>
            </a:r>
            <a:r>
              <a:rPr lang="th" sz="2700" b="1">
                <a:highlight>
                  <a:srgbClr val="FFFF00"/>
                </a:highlight>
                <a:latin typeface="Kanit"/>
                <a:ea typeface="Kanit"/>
                <a:cs typeface="Kanit"/>
                <a:sym typeface="Kanit"/>
              </a:rPr>
              <a:t>≤</a:t>
            </a:r>
            <a:r>
              <a:rPr lang="th" sz="2350">
                <a:highlight>
                  <a:srgbClr val="FFFF00"/>
                </a:highlight>
                <a:latin typeface="Kanit"/>
                <a:ea typeface="Kanit"/>
                <a:cs typeface="Kanit"/>
                <a:sym typeface="Kanit"/>
              </a:rPr>
              <a:t> 30%</a:t>
            </a:r>
            <a:endParaRPr sz="2350" b="1">
              <a:highlight>
                <a:srgbClr val="FFFF00"/>
              </a:highlight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-98525" y="4808475"/>
            <a:ext cx="9449400" cy="335100"/>
          </a:xfrm>
          <a:prstGeom prst="rect">
            <a:avLst/>
          </a:prstGeom>
          <a:solidFill>
            <a:srgbClr val="008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47875" y="2036788"/>
            <a:ext cx="86466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จากผลการประเมิน Competency (Entrepreneurship) ปี 2566</a:t>
            </a:r>
            <a:endParaRPr sz="15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มี Competency Gapคิดเป็น</a:t>
            </a:r>
            <a:r>
              <a:rPr lang="th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  </a:t>
            </a:r>
            <a:r>
              <a:rPr lang="th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22.67%</a:t>
            </a:r>
            <a:endParaRPr b="1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447875" y="14389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800" b="1">
                <a:solidFill>
                  <a:schemeClr val="dk1"/>
                </a:solidFill>
              </a:rPr>
              <a:t>Corporate Objectives</a:t>
            </a:r>
            <a:endParaRPr sz="2200"/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4">
            <a:alphaModFix/>
          </a:blip>
          <a:srcRect l="57439" t="30466" r="23522" b="17863"/>
          <a:stretch/>
        </p:blipFill>
        <p:spPr>
          <a:xfrm rot="5400000">
            <a:off x="798687" y="1256212"/>
            <a:ext cx="2244250" cy="3426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183043" y="3735900"/>
            <a:ext cx="3486000" cy="3555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ctrTitle"/>
          </p:nvPr>
        </p:nvSpPr>
        <p:spPr>
          <a:xfrm>
            <a:off x="3180152" y="1572300"/>
            <a:ext cx="6158100" cy="10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4900" b="1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CORE COMPETENCY</a:t>
            </a:r>
            <a:r>
              <a:rPr lang="th" sz="8300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8300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-38375" y="0"/>
            <a:ext cx="4818000" cy="49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4872325" y="1891800"/>
            <a:ext cx="44832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h" sz="1730" b="1">
                <a:latin typeface="Kanit"/>
                <a:ea typeface="Kanit"/>
                <a:cs typeface="Kanit"/>
                <a:sym typeface="Kanit"/>
              </a:rPr>
              <a:t>พนักงานที่ได้รับการประเมินทั้งหมด  281  ท่าน</a:t>
            </a:r>
            <a:endParaRPr sz="1730" b="1"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458050" y="1235788"/>
            <a:ext cx="4937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0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CORE COMPETENCY</a:t>
            </a:r>
            <a:endParaRPr sz="30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264700" y="2355600"/>
            <a:ext cx="5323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2000">
                <a:solidFill>
                  <a:schemeClr val="accent2"/>
                </a:solidFill>
                <a:latin typeface="Kanit"/>
                <a:ea typeface="Kanit"/>
                <a:cs typeface="Kanit"/>
                <a:sym typeface="Kanit"/>
              </a:rPr>
              <a:t>มีพนักงานที่มี Gap เรื่อง</a:t>
            </a:r>
            <a:r>
              <a:rPr lang="th" sz="20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20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Learning</a:t>
            </a:r>
            <a:r>
              <a:rPr lang="th" sz="20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2000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20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มากที่สุด 31.32 %</a:t>
            </a:r>
            <a:endParaRPr sz="2000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64" name="Google Shape;164;p20" title="แผนภูมิ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92" y="275600"/>
            <a:ext cx="4422336" cy="24138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graphicFrame>
        <p:nvGraphicFramePr>
          <p:cNvPr id="165" name="Google Shape;165;p20"/>
          <p:cNvGraphicFramePr/>
          <p:nvPr/>
        </p:nvGraphicFramePr>
        <p:xfrm>
          <a:off x="403813" y="298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590550"/>
                <a:gridCol w="1152525"/>
                <a:gridCol w="752475"/>
                <a:gridCol w="752475"/>
                <a:gridCol w="7524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ลำดับ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RX COMPETENCY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คนทั้งหมด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คนที่มีGap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คิดเป็น%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Relationship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281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6.41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Fact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281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12.81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Innovative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281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72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25.62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Learning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281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88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31.32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Entrepernuership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281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20.64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/>
          <p:nvPr/>
        </p:nvSpPr>
        <p:spPr>
          <a:xfrm>
            <a:off x="-38375" y="0"/>
            <a:ext cx="4818000" cy="49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4779625" y="1815600"/>
            <a:ext cx="43644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" sz="18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ระดับพนักงาน  ทั้งหมด 233  ท่าน</a:t>
            </a:r>
            <a:endParaRPr sz="180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4534250" y="1235788"/>
            <a:ext cx="4937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0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CORE COMPETENCY</a:t>
            </a:r>
            <a:endParaRPr sz="30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4836475" y="2279400"/>
            <a:ext cx="4523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มีพนักงานที่มี Gap เรื่อง</a:t>
            </a:r>
            <a:r>
              <a:rPr lang="th" sz="13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20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Learning </a:t>
            </a: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มากที่สุด </a:t>
            </a:r>
            <a:endParaRPr sz="2200" b="1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5502800" y="28275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คิดเป็น</a:t>
            </a:r>
            <a:r>
              <a:rPr lang="th" sz="36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30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29.18 </a:t>
            </a:r>
            <a:r>
              <a:rPr lang="th" sz="22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%</a:t>
            </a:r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ctrTitle" idx="4294967295"/>
          </p:nvPr>
        </p:nvSpPr>
        <p:spPr>
          <a:xfrm>
            <a:off x="7841776" y="67875"/>
            <a:ext cx="12318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solidFill>
                  <a:srgbClr val="FF00FF"/>
                </a:solidFill>
                <a:latin typeface="Kanit"/>
                <a:ea typeface="Kanit"/>
                <a:cs typeface="Kanit"/>
                <a:sym typeface="Kanit"/>
              </a:rPr>
              <a:t>Level</a:t>
            </a:r>
            <a:endParaRPr sz="1600">
              <a:solidFill>
                <a:srgbClr val="FF00F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76" name="Google Shape;176;p21" title="แผนภูมิ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8375" y="152400"/>
            <a:ext cx="4817999" cy="26297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graphicFrame>
        <p:nvGraphicFramePr>
          <p:cNvPr id="177" name="Google Shape;177;p21"/>
          <p:cNvGraphicFramePr/>
          <p:nvPr/>
        </p:nvGraphicFramePr>
        <p:xfrm>
          <a:off x="370375" y="316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590550"/>
                <a:gridCol w="1152525"/>
                <a:gridCol w="752475"/>
                <a:gridCol w="752475"/>
                <a:gridCol w="7524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ลำดับ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RX COMPETENCY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คนทั้งหมด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คนที่มีGap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คิดเป็น%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Relationship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233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1.29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Fact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233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4.72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Innovative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233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18.88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Learning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233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68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29.18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Entrepernuership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233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15.02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-38375" y="0"/>
            <a:ext cx="4818000" cy="49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4779625" y="1815600"/>
            <a:ext cx="43644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" sz="18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ระดับหัวหน้างาน  ทั้งหมด 34 ท่าน</a:t>
            </a:r>
            <a:endParaRPr sz="180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4534250" y="1235788"/>
            <a:ext cx="4937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0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CORE COMPETENCY</a:t>
            </a:r>
            <a:endParaRPr sz="30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4836475" y="2279400"/>
            <a:ext cx="45234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มีพนักงานที่มี Gap เรื่อง</a:t>
            </a:r>
            <a:endParaRPr sz="1500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3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20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Innovative Thinking</a:t>
            </a: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มากที่สุด </a:t>
            </a:r>
            <a:endParaRPr sz="2200" b="1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502800" y="28275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คิดเป็น</a:t>
            </a:r>
            <a:r>
              <a:rPr lang="th" sz="36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30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58.82 </a:t>
            </a:r>
            <a:r>
              <a:rPr lang="th" sz="22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%</a:t>
            </a:r>
            <a:endParaRPr/>
          </a:p>
        </p:txBody>
      </p:sp>
      <p:sp>
        <p:nvSpPr>
          <p:cNvPr id="187" name="Google Shape;187;p22"/>
          <p:cNvSpPr txBox="1">
            <a:spLocks noGrp="1"/>
          </p:cNvSpPr>
          <p:nvPr>
            <p:ph type="ctrTitle" idx="4294967295"/>
          </p:nvPr>
        </p:nvSpPr>
        <p:spPr>
          <a:xfrm>
            <a:off x="7841776" y="67875"/>
            <a:ext cx="12318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solidFill>
                  <a:srgbClr val="FF00FF"/>
                </a:solidFill>
                <a:latin typeface="Kanit"/>
                <a:ea typeface="Kanit"/>
                <a:cs typeface="Kanit"/>
                <a:sym typeface="Kanit"/>
              </a:rPr>
              <a:t>Level</a:t>
            </a:r>
            <a:endParaRPr sz="1600">
              <a:solidFill>
                <a:srgbClr val="FF00F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188" name="Google Shape;188;p22"/>
          <p:cNvGraphicFramePr/>
          <p:nvPr/>
        </p:nvGraphicFramePr>
        <p:xfrm>
          <a:off x="533750" y="291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590550"/>
                <a:gridCol w="1152525"/>
                <a:gridCol w="752475"/>
                <a:gridCol w="752475"/>
                <a:gridCol w="7524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ลำดับ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RX COMPETENCY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คนทั้งหมด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คนที่มีGap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คิดเป็น%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Relationship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23.53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Fact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44.12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Innovative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20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58.82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Learning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38.24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Entrepernuership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17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50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89" name="Google Shape;189;p22" title="แผนภูมิ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8377" y="223150"/>
            <a:ext cx="4817999" cy="262978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-38375" y="0"/>
            <a:ext cx="4818000" cy="49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4779625" y="1815600"/>
            <a:ext cx="43644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" sz="18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ระดับผู้จัดการ  ทั้งหมด 13 ท่าน</a:t>
            </a:r>
            <a:endParaRPr sz="180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4534250" y="1235788"/>
            <a:ext cx="4937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0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CORE COMPETENCY</a:t>
            </a:r>
            <a:endParaRPr sz="30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4836475" y="2279400"/>
            <a:ext cx="45234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มีพนักงานที่มี Gap เรื่อง</a:t>
            </a:r>
            <a:endParaRPr sz="1500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8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FACT</a:t>
            </a:r>
            <a:r>
              <a:rPr lang="th" sz="20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มากที่สุด </a:t>
            </a:r>
            <a:endParaRPr sz="2200" b="1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5502800" y="28275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คิดเป็น</a:t>
            </a:r>
            <a:r>
              <a:rPr lang="th" sz="36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30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71.43 </a:t>
            </a:r>
            <a:r>
              <a:rPr lang="th" sz="22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%</a:t>
            </a:r>
            <a:endParaRPr/>
          </a:p>
        </p:txBody>
      </p:sp>
      <p:sp>
        <p:nvSpPr>
          <p:cNvPr id="199" name="Google Shape;199;p23"/>
          <p:cNvSpPr txBox="1">
            <a:spLocks noGrp="1"/>
          </p:cNvSpPr>
          <p:nvPr>
            <p:ph type="ctrTitle" idx="4294967295"/>
          </p:nvPr>
        </p:nvSpPr>
        <p:spPr>
          <a:xfrm>
            <a:off x="7841776" y="67875"/>
            <a:ext cx="12318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solidFill>
                  <a:srgbClr val="FF00FF"/>
                </a:solidFill>
                <a:latin typeface="Kanit"/>
                <a:ea typeface="Kanit"/>
                <a:cs typeface="Kanit"/>
                <a:sym typeface="Kanit"/>
              </a:rPr>
              <a:t>Level</a:t>
            </a:r>
            <a:endParaRPr sz="1600">
              <a:solidFill>
                <a:srgbClr val="FF00F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200" name="Google Shape;200;p23"/>
          <p:cNvGraphicFramePr/>
          <p:nvPr/>
        </p:nvGraphicFramePr>
        <p:xfrm>
          <a:off x="462313" y="295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590550"/>
                <a:gridCol w="1152525"/>
                <a:gridCol w="752475"/>
                <a:gridCol w="752475"/>
                <a:gridCol w="7524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ลำดับ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RX COMPETENCY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คนทั้งหมด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คนที่มีGap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คิดเป็น%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DD0E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Relationship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7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50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Fact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10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71.43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Innovative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57.14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Learning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7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50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7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Entrepernuership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42.86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1" name="Google Shape;201;p23" title="แผนภูมิ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100" y="303550"/>
            <a:ext cx="4523399" cy="24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/>
          <p:nvPr/>
        </p:nvSpPr>
        <p:spPr>
          <a:xfrm>
            <a:off x="-38375" y="0"/>
            <a:ext cx="4818000" cy="49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4779625" y="1815600"/>
            <a:ext cx="43644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" sz="18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กลุ่มงานสำนักงาน  ทั้งหมด 124  ท่าน</a:t>
            </a:r>
            <a:endParaRPr sz="180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4534250" y="1235788"/>
            <a:ext cx="4937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0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CORE COMPETENCY</a:t>
            </a:r>
            <a:endParaRPr sz="30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4871175" y="2199900"/>
            <a:ext cx="4523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20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มีพนักงานที่มี Gap เรื่อง </a:t>
            </a:r>
            <a:r>
              <a:rPr lang="th" sz="20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Learning</a:t>
            </a:r>
            <a:r>
              <a:rPr lang="th" sz="20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2000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20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มากที่สุด คิดเป็น</a:t>
            </a:r>
            <a:r>
              <a:rPr lang="th" sz="20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39.84%</a:t>
            </a:r>
            <a:endParaRPr sz="2000" b="1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10" name="Google Shape;210;p24"/>
          <p:cNvSpPr txBox="1">
            <a:spLocks noGrp="1"/>
          </p:cNvSpPr>
          <p:nvPr>
            <p:ph type="ctrTitle" idx="4294967295"/>
          </p:nvPr>
        </p:nvSpPr>
        <p:spPr>
          <a:xfrm>
            <a:off x="7841776" y="67875"/>
            <a:ext cx="12318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solidFill>
                  <a:srgbClr val="FF00FF"/>
                </a:solidFill>
                <a:latin typeface="Kanit"/>
                <a:ea typeface="Kanit"/>
                <a:cs typeface="Kanit"/>
                <a:sym typeface="Kanit"/>
              </a:rPr>
              <a:t>กลุ่มงาน</a:t>
            </a:r>
            <a:endParaRPr sz="1600">
              <a:solidFill>
                <a:srgbClr val="FF00F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211" name="Google Shape;211;p24" title="แผนภูมิ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725" y="240825"/>
            <a:ext cx="4817999" cy="26297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" name="Google Shape;212;p24"/>
          <p:cNvGraphicFramePr/>
          <p:nvPr/>
        </p:nvGraphicFramePr>
        <p:xfrm>
          <a:off x="213100" y="304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590550"/>
                <a:gridCol w="1152525"/>
                <a:gridCol w="752475"/>
                <a:gridCol w="752475"/>
                <a:gridCol w="7524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ลำดับ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RX COMPETENCY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คนทั้งหมด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คนที่มีGap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คิดเป็น%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Relationship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2.44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Fact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10.57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Innovative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28.46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Learning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49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39.84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Entrepernuership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27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21.95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/>
          <p:nvPr/>
        </p:nvSpPr>
        <p:spPr>
          <a:xfrm>
            <a:off x="-38375" y="0"/>
            <a:ext cx="4818000" cy="49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title"/>
          </p:nvPr>
        </p:nvSpPr>
        <p:spPr>
          <a:xfrm>
            <a:off x="4779625" y="1815600"/>
            <a:ext cx="43644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" sz="18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กลุ่มงานขาย  ทั้งหมด 102  ท่าน</a:t>
            </a:r>
            <a:endParaRPr sz="180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4534250" y="1235788"/>
            <a:ext cx="4937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0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CORE COMPETENCY</a:t>
            </a:r>
            <a:endParaRPr sz="30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4836475" y="2279400"/>
            <a:ext cx="4523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มีพนักงานที่มี Gap เรื่อง</a:t>
            </a:r>
            <a:r>
              <a:rPr lang="th" sz="13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1300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20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Innovative Thinking</a:t>
            </a:r>
            <a:r>
              <a:rPr lang="th" sz="27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มากที่สุด </a:t>
            </a:r>
            <a:endParaRPr sz="1500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คิดเป็น</a:t>
            </a:r>
            <a:r>
              <a:rPr lang="th" sz="36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30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25.49 </a:t>
            </a:r>
            <a:r>
              <a:rPr lang="th" sz="22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%</a:t>
            </a:r>
            <a:endParaRPr sz="2200" b="1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21" name="Google Shape;221;p25"/>
          <p:cNvSpPr txBox="1">
            <a:spLocks noGrp="1"/>
          </p:cNvSpPr>
          <p:nvPr>
            <p:ph type="ctrTitle" idx="4294967295"/>
          </p:nvPr>
        </p:nvSpPr>
        <p:spPr>
          <a:xfrm>
            <a:off x="7841776" y="67875"/>
            <a:ext cx="12318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solidFill>
                  <a:srgbClr val="FF00FF"/>
                </a:solidFill>
                <a:latin typeface="Kanit"/>
                <a:ea typeface="Kanit"/>
                <a:cs typeface="Kanit"/>
                <a:sym typeface="Kanit"/>
              </a:rPr>
              <a:t>กลุ่มงาน</a:t>
            </a:r>
            <a:endParaRPr sz="1600">
              <a:solidFill>
                <a:srgbClr val="FF00F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222" name="Google Shape;222;p25"/>
          <p:cNvGraphicFramePr/>
          <p:nvPr/>
        </p:nvGraphicFramePr>
        <p:xfrm>
          <a:off x="370375" y="325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590550"/>
                <a:gridCol w="1152525"/>
                <a:gridCol w="752475"/>
                <a:gridCol w="752475"/>
                <a:gridCol w="7524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ลำดับ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RX COMPETENCY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คนทั้งหมด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คนที่มีGap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คิดเป็น%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Relationship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102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7.84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Fact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102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14.71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Innovative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102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25.49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Learning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102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22.55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Entrepernuership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102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19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18.63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23" name="Google Shape;223;p25" title="แผนภูมิ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8375" y="416668"/>
            <a:ext cx="4817999" cy="2629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/>
          <p:nvPr/>
        </p:nvSpPr>
        <p:spPr>
          <a:xfrm>
            <a:off x="-38375" y="0"/>
            <a:ext cx="4818000" cy="49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779625" y="1815600"/>
            <a:ext cx="43644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" sz="1800" b="1">
                <a:solidFill>
                  <a:schemeClr val="accent1"/>
                </a:solidFill>
                <a:latin typeface="Kanit"/>
                <a:ea typeface="Kanit"/>
                <a:cs typeface="Kanit"/>
                <a:sym typeface="Kanit"/>
              </a:rPr>
              <a:t>กลุ่มงานเลสิก  ทั้งหมด 56  ท่าน</a:t>
            </a:r>
            <a:endParaRPr sz="180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solidFill>
                <a:schemeClr val="accent1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30" b="1"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4534250" y="1235788"/>
            <a:ext cx="49371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000" b="1" u="sng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rPr>
              <a:t>CORE COMPETENCY</a:t>
            </a:r>
            <a:endParaRPr sz="3000" b="1" u="sng">
              <a:solidFill>
                <a:schemeClr val="dk1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31" name="Google Shape;231;p26"/>
          <p:cNvSpPr txBox="1"/>
          <p:nvPr/>
        </p:nvSpPr>
        <p:spPr>
          <a:xfrm>
            <a:off x="4836475" y="2279400"/>
            <a:ext cx="45234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มีพนักงานที่มี Gap เรื่อง</a:t>
            </a:r>
            <a:r>
              <a:rPr lang="th" sz="13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1300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" sz="20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Learning </a:t>
            </a: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มากที่สุด </a:t>
            </a:r>
            <a:endParaRPr sz="2200" b="1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32" name="Google Shape;232;p26"/>
          <p:cNvSpPr txBox="1">
            <a:spLocks noGrp="1"/>
          </p:cNvSpPr>
          <p:nvPr>
            <p:ph type="ctrTitle" idx="4294967295"/>
          </p:nvPr>
        </p:nvSpPr>
        <p:spPr>
          <a:xfrm>
            <a:off x="7841776" y="67875"/>
            <a:ext cx="12318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600" b="1">
                <a:solidFill>
                  <a:srgbClr val="FF00FF"/>
                </a:solidFill>
                <a:latin typeface="Kanit"/>
                <a:ea typeface="Kanit"/>
                <a:cs typeface="Kanit"/>
                <a:sym typeface="Kanit"/>
              </a:rPr>
              <a:t>กลุ่มงาน</a:t>
            </a:r>
            <a:endParaRPr sz="1600">
              <a:solidFill>
                <a:srgbClr val="FF00FF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233" name="Google Shape;233;p26" title="แผนภูมิ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8375" y="0"/>
            <a:ext cx="4817999" cy="26297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Google Shape;234;p26"/>
          <p:cNvGraphicFramePr/>
          <p:nvPr/>
        </p:nvGraphicFramePr>
        <p:xfrm>
          <a:off x="370375" y="304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590550"/>
                <a:gridCol w="1152525"/>
                <a:gridCol w="752475"/>
                <a:gridCol w="752475"/>
                <a:gridCol w="7524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ลำดับ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 b="1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RX COMPETENCY</a:t>
                      </a:r>
                      <a:endParaRPr sz="800" b="1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คนทั้งหมด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คนที่มีGap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8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คิดเป็น%</a:t>
                      </a:r>
                      <a:endParaRPr sz="8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3D29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Relationship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7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12.5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Fact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14.29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Innovative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19.64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Learning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28.57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F9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Entrepernuership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21.43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26"/>
          <p:cNvSpPr txBox="1"/>
          <p:nvPr/>
        </p:nvSpPr>
        <p:spPr>
          <a:xfrm>
            <a:off x="5811375" y="29209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1500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คิดเป็น</a:t>
            </a:r>
            <a:r>
              <a:rPr lang="th" sz="36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th" sz="30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28.57 </a:t>
            </a:r>
            <a:r>
              <a:rPr lang="th" sz="2200" b="1">
                <a:solidFill>
                  <a:srgbClr val="990000"/>
                </a:solidFill>
                <a:latin typeface="Kanit"/>
                <a:ea typeface="Kanit"/>
                <a:cs typeface="Kanit"/>
                <a:sym typeface="Kanit"/>
              </a:rPr>
              <a:t>%</a:t>
            </a:r>
            <a:endParaRPr sz="2200" b="1">
              <a:solidFill>
                <a:srgbClr val="990000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/>
        </p:nvSpPr>
        <p:spPr>
          <a:xfrm>
            <a:off x="157650" y="241075"/>
            <a:ext cx="88878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3700" b="1">
                <a:solidFill>
                  <a:srgbClr val="008000"/>
                </a:solidFill>
                <a:latin typeface="Kanit"/>
                <a:ea typeface="Kanit"/>
                <a:cs typeface="Kanit"/>
                <a:sym typeface="Kanit"/>
              </a:rPr>
              <a:t>สรุป CORE COMPETENCY 67</a:t>
            </a:r>
            <a:endParaRPr sz="3700" b="1">
              <a:solidFill>
                <a:srgbClr val="008000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00" b="1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241" name="Google Shape;241;p27"/>
          <p:cNvGraphicFramePr/>
          <p:nvPr/>
        </p:nvGraphicFramePr>
        <p:xfrm>
          <a:off x="833450" y="167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2253225"/>
                <a:gridCol w="836300"/>
                <a:gridCol w="917800"/>
                <a:gridCol w="597150"/>
                <a:gridCol w="751300"/>
                <a:gridCol w="751300"/>
                <a:gridCol w="751300"/>
                <a:gridCol w="751300"/>
              </a:tblGrid>
              <a:tr h="385975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7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Core Competency</a:t>
                      </a:r>
                      <a:endParaRPr sz="17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RX</a:t>
                      </a:r>
                      <a:endParaRPr sz="13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กลุ่มงาน</a:t>
                      </a:r>
                      <a:endParaRPr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ระดับ</a:t>
                      </a:r>
                      <a:endParaRPr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สำนักงาน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ขาย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เลสิก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พนักงาน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หัวหน้างาน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ผู้จัดการ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</a:tr>
              <a:tr h="274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chemeClr val="dk1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Relationship Excellence</a:t>
                      </a:r>
                      <a:endParaRPr sz="1000" b="1">
                        <a:solidFill>
                          <a:schemeClr val="dk1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6.41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2.44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7.84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12.5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1.29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23.53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50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74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chemeClr val="dk1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Fact</a:t>
                      </a:r>
                      <a:endParaRPr sz="1000" b="1">
                        <a:solidFill>
                          <a:schemeClr val="dk1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12.81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10.57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14.71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14.29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4.72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44.12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rgbClr val="F46524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71.43</a:t>
                      </a:r>
                      <a:endParaRPr sz="1000" b="1">
                        <a:solidFill>
                          <a:srgbClr val="F46524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74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chemeClr val="dk1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Innovative Thinking</a:t>
                      </a:r>
                      <a:endParaRPr sz="1000" b="1">
                        <a:solidFill>
                          <a:schemeClr val="dk1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25.62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28.46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rgbClr val="F46524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25.49</a:t>
                      </a:r>
                      <a:endParaRPr sz="1000" b="1">
                        <a:solidFill>
                          <a:srgbClr val="F46524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19.64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18.88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rgbClr val="F46524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58.82</a:t>
                      </a:r>
                      <a:endParaRPr sz="1000" b="1">
                        <a:solidFill>
                          <a:srgbClr val="F46524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57.14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74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chemeClr val="dk1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Learning</a:t>
                      </a:r>
                      <a:endParaRPr sz="1000" b="1">
                        <a:solidFill>
                          <a:schemeClr val="dk1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rgbClr val="F46524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31.32</a:t>
                      </a:r>
                      <a:endParaRPr sz="1000" b="1">
                        <a:solidFill>
                          <a:srgbClr val="F46524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rgbClr val="F46524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39.84</a:t>
                      </a:r>
                      <a:endParaRPr sz="1000" b="1">
                        <a:solidFill>
                          <a:srgbClr val="F46524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22.55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rgbClr val="F46524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28.57</a:t>
                      </a:r>
                      <a:endParaRPr sz="1000" b="1">
                        <a:solidFill>
                          <a:srgbClr val="F46524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rgbClr val="F46524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29.18</a:t>
                      </a:r>
                      <a:endParaRPr sz="1000" b="1">
                        <a:solidFill>
                          <a:srgbClr val="F46524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38.24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50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74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 b="1">
                          <a:solidFill>
                            <a:schemeClr val="dk1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Entrepernuership</a:t>
                      </a:r>
                      <a:endParaRPr sz="1000" b="1">
                        <a:solidFill>
                          <a:schemeClr val="dk1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20.64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21.95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18.63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21.43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15.02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50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000">
                          <a:latin typeface="Kanit"/>
                          <a:ea typeface="Kanit"/>
                          <a:cs typeface="Kanit"/>
                          <a:sym typeface="Kanit"/>
                        </a:rPr>
                        <a:t>42.86</a:t>
                      </a:r>
                      <a:endParaRPr sz="10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>
            <a:spLocks noGrp="1"/>
          </p:cNvSpPr>
          <p:nvPr>
            <p:ph type="ctrTitle"/>
          </p:nvPr>
        </p:nvSpPr>
        <p:spPr>
          <a:xfrm>
            <a:off x="1703252" y="1881025"/>
            <a:ext cx="6158100" cy="10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4900" b="1">
                <a:solidFill>
                  <a:srgbClr val="D9D9D9"/>
                </a:solidFill>
                <a:latin typeface="Kanit"/>
                <a:ea typeface="Kanit"/>
                <a:cs typeface="Kanit"/>
                <a:sym typeface="Kanit"/>
              </a:rPr>
              <a:t>JOB COMPETENCY</a:t>
            </a:r>
            <a:r>
              <a:rPr lang="th" sz="8300">
                <a:solidFill>
                  <a:srgbClr val="D9D9D9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8300">
              <a:solidFill>
                <a:srgbClr val="D9D9D9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47" name="Google Shape;247;p28"/>
          <p:cNvSpPr txBox="1">
            <a:spLocks noGrp="1"/>
          </p:cNvSpPr>
          <p:nvPr>
            <p:ph type="ctrTitle"/>
          </p:nvPr>
        </p:nvSpPr>
        <p:spPr>
          <a:xfrm>
            <a:off x="1671182" y="1910842"/>
            <a:ext cx="6158100" cy="10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4900" b="1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JOB COMPETENCY</a:t>
            </a:r>
            <a:r>
              <a:rPr lang="th" sz="8300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8300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/>
          <p:nvPr/>
        </p:nvSpPr>
        <p:spPr>
          <a:xfrm>
            <a:off x="2275" y="0"/>
            <a:ext cx="3089400" cy="502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-16825" y="1498750"/>
            <a:ext cx="3089400" cy="17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200" b="1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สรุปผลการประเมิน</a:t>
            </a:r>
            <a:endParaRPr sz="2200" b="1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200" b="1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JOB COMPETENCY</a:t>
            </a:r>
            <a:endParaRPr sz="2200" b="1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200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RX Company</a:t>
            </a:r>
            <a:endParaRPr sz="2200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254" name="Google Shape;254;p29"/>
          <p:cNvGraphicFramePr/>
          <p:nvPr/>
        </p:nvGraphicFramePr>
        <p:xfrm>
          <a:off x="3280625" y="1759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3032550"/>
                <a:gridCol w="890600"/>
                <a:gridCol w="890600"/>
                <a:gridCol w="890600"/>
              </a:tblGrid>
              <a:tr h="158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Job COMPETENCY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652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คนทั้งหมด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652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คนที่มีGap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652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คิดเป็น%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6524"/>
                    </a:solidFill>
                  </a:tcPr>
                </a:tc>
              </a:tr>
              <a:tr h="158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ความรู้ด้านระบบคุณภาพ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121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55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45.45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58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การวิเคราะห์ข้อมูล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128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40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31.25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</a:tr>
              <a:tr h="158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การสื่อสาร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162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33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20.37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58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การแก้ไขปัญหาการตัดสินใจ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238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41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17.23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</a:tr>
              <a:tr h="210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การปฏิบัติงานตามขั้นตอน การจัดการเอกสารและข้อมูล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158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8.86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/>
        </p:nvSpPr>
        <p:spPr>
          <a:xfrm>
            <a:off x="-242875" y="52025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200" b="1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ระดับงาน</a:t>
            </a:r>
            <a:endParaRPr sz="2200" b="1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200" b="1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JOB COMPETENCY</a:t>
            </a:r>
            <a:endParaRPr/>
          </a:p>
        </p:txBody>
      </p:sp>
      <p:graphicFrame>
        <p:nvGraphicFramePr>
          <p:cNvPr id="260" name="Google Shape;260;p30"/>
          <p:cNvGraphicFramePr/>
          <p:nvPr/>
        </p:nvGraphicFramePr>
        <p:xfrm>
          <a:off x="1723550" y="109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3064825"/>
                <a:gridCol w="900075"/>
                <a:gridCol w="900075"/>
                <a:gridCol w="900075"/>
              </a:tblGrid>
              <a:tr h="177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พนักงาน</a:t>
                      </a:r>
                      <a:endParaRPr sz="13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คนทั้งหมด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คนที่มีGap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BC34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คิดเป็น%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BC34A"/>
                    </a:solidFill>
                  </a:tcPr>
                </a:tc>
              </a:tr>
              <a:tr h="177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ความรู้ด้านระบบคุณภาพ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103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48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46.6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77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การสื่อสาร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7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161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7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33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7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20.5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7E3"/>
                    </a:solidFill>
                  </a:tcPr>
                </a:tc>
              </a:tr>
              <a:tr h="177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การแก้ไขปัญหาการตัดสินใจ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231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15.15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41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การปฏิบัติงานตามขั้นตอน การจัดการเอกสารและข้อมูล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7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157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7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7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8.92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7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1" name="Google Shape;261;p30"/>
          <p:cNvGraphicFramePr/>
          <p:nvPr/>
        </p:nvGraphicFramePr>
        <p:xfrm>
          <a:off x="1723550" y="226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3064825"/>
                <a:gridCol w="900075"/>
                <a:gridCol w="900075"/>
                <a:gridCol w="9000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2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หัวหน้างาน</a:t>
                      </a:r>
                      <a:endParaRPr sz="12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A67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หัวหน้างาน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A67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คนที่มีGap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A67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คิดเป็น%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A67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การวิเคราะห์ข้อมูล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34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22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64.71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การบริหารจัดการ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2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24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2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12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2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50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2EB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การปฏิบัติงานเชิงกลยุทธ์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46.67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2" name="Google Shape;262;p30"/>
          <p:cNvGraphicFramePr/>
          <p:nvPr/>
        </p:nvGraphicFramePr>
        <p:xfrm>
          <a:off x="1723550" y="318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3064825"/>
                <a:gridCol w="900075"/>
                <a:gridCol w="900075"/>
                <a:gridCol w="90007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ผู้จัดการ</a:t>
                      </a:r>
                      <a:endParaRPr sz="13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ผู้จัดการ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คนที่มีGap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คิดเป็น%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ภาวะผู้นำ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11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9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81.82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การสอนงานและพัฒนาพนักงาน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70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การวิเคราะห์ข้อมูล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70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การปฏิบัติงานเชิงกลยุทธ์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12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8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66.67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8E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การบริหารบุคลากร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11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63.64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ctrTitle"/>
          </p:nvPr>
        </p:nvSpPr>
        <p:spPr>
          <a:xfrm>
            <a:off x="87275" y="899050"/>
            <a:ext cx="2774100" cy="5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680" b="1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680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graphicFrame>
        <p:nvGraphicFramePr>
          <p:cNvPr id="268" name="Google Shape;268;p31"/>
          <p:cNvGraphicFramePr/>
          <p:nvPr/>
        </p:nvGraphicFramePr>
        <p:xfrm>
          <a:off x="1944125" y="1151950"/>
          <a:ext cx="5114575" cy="1063647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2719000"/>
                <a:gridCol w="798525"/>
                <a:gridCol w="798525"/>
                <a:gridCol w="798525"/>
              </a:tblGrid>
              <a:tr h="163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lang="th" sz="1300" b="1">
                          <a:solidFill>
                            <a:schemeClr val="dk1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กลุ่มสำนักงาน</a:t>
                      </a:r>
                      <a:endParaRPr sz="1300" b="1">
                        <a:solidFill>
                          <a:schemeClr val="dk1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652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คนทั้งหมด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652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คนที่มีGap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652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คิดเป็น%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6524"/>
                    </a:solidFill>
                  </a:tcPr>
                </a:tc>
              </a:tr>
              <a:tr h="182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ความรู้ด้านระบบคุณภาพ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103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48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46.6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63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การสื่อสาร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161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33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20.5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</a:tr>
              <a:tr h="163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การแก้ไขปัญหาการตัดสินใจ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231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15.15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39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การปฏิบัติงานตามขั้นตอน การจัดการเอกสารและข้อมูล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157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14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8.92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6DD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31"/>
          <p:cNvSpPr txBox="1"/>
          <p:nvPr/>
        </p:nvSpPr>
        <p:spPr>
          <a:xfrm>
            <a:off x="-242875" y="52025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200" b="1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กลุ่มงาน</a:t>
            </a:r>
            <a:endParaRPr sz="2200" b="1">
              <a:solidFill>
                <a:srgbClr val="337744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" sz="2200" b="1">
                <a:solidFill>
                  <a:srgbClr val="337744"/>
                </a:solidFill>
                <a:latin typeface="Kanit"/>
                <a:ea typeface="Kanit"/>
                <a:cs typeface="Kanit"/>
                <a:sym typeface="Kanit"/>
              </a:rPr>
              <a:t>JOB COMPETENCY</a:t>
            </a:r>
            <a:endParaRPr/>
          </a:p>
        </p:txBody>
      </p:sp>
      <p:sp>
        <p:nvSpPr>
          <p:cNvPr id="270" name="Google Shape;270;p31"/>
          <p:cNvSpPr txBox="1"/>
          <p:nvPr/>
        </p:nvSpPr>
        <p:spPr>
          <a:xfrm>
            <a:off x="835775" y="25779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aphicFrame>
        <p:nvGraphicFramePr>
          <p:cNvPr id="271" name="Google Shape;271;p31"/>
          <p:cNvGraphicFramePr/>
          <p:nvPr/>
        </p:nvGraphicFramePr>
        <p:xfrm>
          <a:off x="1944125" y="2327225"/>
          <a:ext cx="5114600" cy="1066038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2719025"/>
                <a:gridCol w="798525"/>
                <a:gridCol w="798525"/>
                <a:gridCol w="79852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กลุ่มงานขาย</a:t>
                      </a:r>
                      <a:endParaRPr sz="13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คนทั้งหมด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คนที่มีGap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คิดเป็น%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5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การวิเคราะห์ข้อมูล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99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26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solidFill>
                            <a:srgbClr val="FF00FF"/>
                          </a:solidFill>
                          <a:latin typeface="Kanit"/>
                          <a:ea typeface="Kanit"/>
                          <a:cs typeface="Kanit"/>
                          <a:sym typeface="Kanit"/>
                        </a:rPr>
                        <a:t>26.26</a:t>
                      </a:r>
                      <a:endParaRPr sz="900" b="1">
                        <a:solidFill>
                          <a:srgbClr val="FF00FF"/>
                        </a:solidFill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การแก้ไขปัญหาการตัดสินใจ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80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19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23.75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การนำเสนอ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30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16.67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ทักษะการขาย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68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7.35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2" name="Google Shape;272;p31"/>
          <p:cNvGraphicFramePr/>
          <p:nvPr/>
        </p:nvGraphicFramePr>
        <p:xfrm>
          <a:off x="1944125" y="3491175"/>
          <a:ext cx="5114600" cy="861822"/>
        </p:xfrm>
        <a:graphic>
          <a:graphicData uri="http://schemas.openxmlformats.org/drawingml/2006/table">
            <a:tbl>
              <a:tblPr>
                <a:noFill/>
                <a:tableStyleId>{174CB2F8-4815-4C28-AC04-978E1422C938}</a:tableStyleId>
              </a:tblPr>
              <a:tblGrid>
                <a:gridCol w="2719025"/>
                <a:gridCol w="798525"/>
                <a:gridCol w="798525"/>
                <a:gridCol w="798525"/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13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กลุ่มงานเลสิก</a:t>
                      </a:r>
                      <a:endParaRPr sz="13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989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คนทั้งหมด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989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คนที่มีGap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989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 b="1">
                          <a:latin typeface="Kanit"/>
                          <a:ea typeface="Kanit"/>
                          <a:cs typeface="Kanit"/>
                          <a:sym typeface="Kanit"/>
                        </a:rPr>
                        <a:t>คิดเป็น%</a:t>
                      </a:r>
                      <a:endParaRPr sz="900" b="1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989EB"/>
                    </a:solidFill>
                  </a:tcPr>
                </a:tc>
              </a:tr>
              <a:tr h="152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การปฏิบัติงานตามขั้นตอน การจัดการเอกสารและข้อมูล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49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14.29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การแก้ไขปัญหาการตัดสินใจ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49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5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10.2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7F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ความรู้ทางเลสิค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54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2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" sz="900">
                          <a:latin typeface="Kanit"/>
                          <a:ea typeface="Kanit"/>
                          <a:cs typeface="Kanit"/>
                          <a:sym typeface="Kanit"/>
                        </a:rPr>
                        <a:t>3.7</a:t>
                      </a:r>
                      <a:endParaRPr sz="900">
                        <a:latin typeface="Kanit"/>
                        <a:ea typeface="Kanit"/>
                        <a:cs typeface="Kanit"/>
                        <a:sym typeface="Kanit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Microsoft Office PowerPoint</Application>
  <PresentationFormat>On-screen Show (16:9)</PresentationFormat>
  <Paragraphs>563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Kanit</vt:lpstr>
      <vt:lpstr>Montserrat</vt:lpstr>
      <vt:lpstr>Arial</vt:lpstr>
      <vt:lpstr>Prompt</vt:lpstr>
      <vt:lpstr>Arial Black</vt:lpstr>
      <vt:lpstr>Simple Light</vt:lpstr>
      <vt:lpstr>COMPETENCY</vt:lpstr>
      <vt:lpstr>PowerPoint Presentation</vt:lpstr>
      <vt:lpstr>PowerPoint Presentation</vt:lpstr>
      <vt:lpstr>RX COMPETENCY</vt:lpstr>
      <vt:lpstr>พนักงานที่ได้รับการประเมินทั้งหมด   281  ท่าน</vt:lpstr>
      <vt:lpstr>PowerPoint Presentation</vt:lpstr>
      <vt:lpstr>CORE COMPETENCY </vt:lpstr>
      <vt:lpstr>พนักงานที่ได้รับการประเมินทั้งหมด  281  ท่าน </vt:lpstr>
      <vt:lpstr>ระดับพนักงาน  ทั้งหมด 233  ท่าน  </vt:lpstr>
      <vt:lpstr>ระดับหัวหน้างาน  ทั้งหมด 34 ท่าน  </vt:lpstr>
      <vt:lpstr>ระดับผู้จัดการ  ทั้งหมด 13 ท่าน  </vt:lpstr>
      <vt:lpstr>กลุ่มงานสำนักงาน  ทั้งหมด 124  ท่าน  </vt:lpstr>
      <vt:lpstr>กลุ่มงานขาย  ทั้งหมด 102  ท่าน  </vt:lpstr>
      <vt:lpstr>กลุ่มงานเลสิก  ทั้งหมด 56  ท่าน  </vt:lpstr>
      <vt:lpstr>PowerPoint Presentation</vt:lpstr>
      <vt:lpstr>JOB COMPETENCY </vt:lpstr>
      <vt:lpstr>สรุปผลการประเมิน JOB COMPETENCY RX Company</vt:lpstr>
      <vt:lpstr>PowerPoint Presentation</vt:lpstr>
      <vt:lpstr>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COMPETENCY</dc:title>
  <cp:lastModifiedBy>Jirasak San-Oun</cp:lastModifiedBy>
  <cp:revision>1</cp:revision>
  <dcterms:modified xsi:type="dcterms:W3CDTF">2026-08-06T02:03:04Z</dcterms:modified>
</cp:coreProperties>
</file>